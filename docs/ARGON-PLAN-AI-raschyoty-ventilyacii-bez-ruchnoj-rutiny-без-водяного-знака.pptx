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IBM Plex Sans" panose="020B0503050203000203" pitchFamily="34" charset="0"/>
      <p:regular r:id="rId17"/>
    </p:embeddedFont>
    <p:embeddedFont>
      <p:font typeface="IBM Plex Sans Bold" panose="020B0803050203000203" charset="0"/>
      <p:regular r:id="rId18"/>
    </p:embeddedFont>
    <p:embeddedFont>
      <p:font typeface="IBM Plex Sans SemiBold" panose="020B0703050203000203" pitchFamily="34" charset="0"/>
      <p:regular r:id="rId19"/>
      <p:bold r:id="rId20"/>
    </p:embeddedFont>
    <p:embeddedFont>
      <p:font typeface="Rubik Bold" panose="020B0604020202020204" charset="-79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606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4205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jpe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189" y="406400"/>
            <a:ext cx="6349841" cy="6045200"/>
          </a:xfrm>
          <a:prstGeom prst="roundRect">
            <a:avLst>
              <a:gd name="adj" fmla="val 3025"/>
            </a:avLst>
          </a:prstGeom>
          <a:solidFill>
            <a:srgbClr val="1230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90555" y="688086"/>
            <a:ext cx="6292693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2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ARGON PLAN AI · AI-АГЕНТ ДЛЯ ВЕНТИЛЯЦИИ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90555" y="971019"/>
            <a:ext cx="5683108" cy="1535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600" b="1" kern="100" spc="-54" dirty="0">
                <a:solidFill>
                  <a:srgbClr val="FFFFFF"/>
                </a:solidFill>
                <a:latin typeface="Rubik Bold" pitchFamily="34" charset="0"/>
                <a:ea typeface="Rubik Bold" pitchFamily="34" charset="-122"/>
                <a:cs typeface="Rubik Bold" pitchFamily="34" charset="0"/>
              </a:rPr>
              <a:t>VENT_AI:</a:t>
            </a:r>
            <a:endParaRPr lang="en-US" sz="3600" dirty="0"/>
          </a:p>
          <a:p>
            <a:pPr marL="0" indent="0" algn="l">
              <a:lnSpc>
                <a:spcPct val="93000"/>
              </a:lnSpc>
              <a:buNone/>
            </a:pPr>
            <a:r>
              <a:rPr lang="en-US" sz="3600" b="1" kern="100" spc="-54" dirty="0">
                <a:solidFill>
                  <a:srgbClr val="FFFFFF"/>
                </a:solidFill>
                <a:latin typeface="Rubik Bold" pitchFamily="34" charset="0"/>
                <a:ea typeface="Rubik Bold" pitchFamily="34" charset="-122"/>
                <a:cs typeface="Rubik Bold" pitchFamily="34" charset="0"/>
              </a:rPr>
              <a:t>расчёты вентиляции</a:t>
            </a:r>
            <a:endParaRPr lang="en-US" sz="3600" dirty="0"/>
          </a:p>
          <a:p>
            <a:pPr marL="0" indent="0" algn="l">
              <a:lnSpc>
                <a:spcPct val="93000"/>
              </a:lnSpc>
              <a:buNone/>
            </a:pPr>
            <a:r>
              <a:rPr lang="en-US" sz="3600" b="1" kern="100" spc="-54" dirty="0">
                <a:solidFill>
                  <a:srgbClr val="FFFFFF"/>
                </a:solidFill>
                <a:latin typeface="Rubik Bold" pitchFamily="34" charset="0"/>
                <a:ea typeface="Rubik Bold" pitchFamily="34" charset="-122"/>
                <a:cs typeface="Rubik Bold" pitchFamily="34" charset="0"/>
              </a:rPr>
              <a:t>без ручной рутины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90555" y="2708890"/>
            <a:ext cx="5683108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AI-агент превращает PDF-планы и таблицы в структурированные данные, расчёты ХОВС и готовый ГОСТ-отчёт.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90555" y="4853686"/>
            <a:ext cx="1691141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2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БЫСТРЕЕ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0555" y="5164832"/>
            <a:ext cx="169114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от 5–10 раз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786489" y="4853686"/>
            <a:ext cx="1691141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2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ТОЧНЕЕ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86489" y="5164832"/>
            <a:ext cx="169114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до 99%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82423" y="4853686"/>
            <a:ext cx="1691241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2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НАДЁЖНЕЕ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82423" y="5164832"/>
            <a:ext cx="169124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данные внутри проекта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3376"/>
            <a:ext cx="420607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kern="100" spc="97" dirty="0">
                <a:solidFill>
                  <a:srgbClr val="12304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ПРОБЛЕМА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09585" y="825316"/>
            <a:ext cx="4206075" cy="734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2600" b="1" kern="100" spc="-39" dirty="0">
                <a:solidFill>
                  <a:srgbClr val="12304A"/>
                </a:solidFill>
                <a:latin typeface="Rubik Bold" pitchFamily="34" charset="0"/>
                <a:ea typeface="Rubik Bold" pitchFamily="34" charset="-122"/>
                <a:cs typeface="Rubik Bold" pitchFamily="34" charset="0"/>
              </a:rPr>
              <a:t>70% времени инженера уходит не на расчёты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09585" y="1698173"/>
            <a:ext cx="4206075" cy="68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350" dirty="0">
                <a:solidFill>
                  <a:srgbClr val="1230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Большая часть рабочего времени тратится на сбор площадей, перенос данных и сборку таблиц, а не на аэродинамику.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272749" y="609600"/>
            <a:ext cx="6309361" cy="1702991"/>
          </a:xfrm>
          <a:prstGeom prst="roundRect">
            <a:avLst>
              <a:gd name="adj" fmla="val 10738"/>
            </a:avLst>
          </a:prstGeom>
          <a:solidFill>
            <a:srgbClr val="EDF5FA"/>
          </a:solidFill>
          <a:ln w="6350">
            <a:solidFill>
              <a:srgbClr val="B7CBD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507693" y="883921"/>
            <a:ext cx="5839473" cy="602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500" b="1" kern="100" spc="-136" dirty="0">
                <a:solidFill>
                  <a:srgbClr val="12304A"/>
                </a:solidFill>
                <a:latin typeface="Rubik Bold" pitchFamily="34" charset="0"/>
                <a:ea typeface="Rubik Bold" pitchFamily="34" charset="-122"/>
                <a:cs typeface="Rubik Bold" pitchFamily="34" charset="0"/>
              </a:rPr>
              <a:t>70%</a:t>
            </a:r>
            <a:endParaRPr lang="en-US" sz="45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2749" y="2845891"/>
            <a:ext cx="348547" cy="34855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272749" y="3289307"/>
            <a:ext cx="3002284" cy="256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2304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Поиск данных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272749" y="3644448"/>
            <a:ext cx="3002284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350" dirty="0">
                <a:solidFill>
                  <a:srgbClr val="1230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Ручное чтение PDF-чертежей.</a:t>
            </a:r>
            <a:endParaRPr lang="en-US" sz="13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9826" y="2845891"/>
            <a:ext cx="348547" cy="34855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579826" y="3289307"/>
            <a:ext cx="3002284" cy="256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2304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Риск ошибок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8579826" y="3644448"/>
            <a:ext cx="3002284" cy="456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350" dirty="0">
                <a:solidFill>
                  <a:srgbClr val="1230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Ошибки при сопоставлении номеров помещений.</a:t>
            </a:r>
            <a:endParaRPr lang="en-US" sz="13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2749" y="4853781"/>
            <a:ext cx="348547" cy="34855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72749" y="5297197"/>
            <a:ext cx="3002284" cy="256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2304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Задержка проектов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5272749" y="5652338"/>
            <a:ext cx="3002284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350" dirty="0">
                <a:solidFill>
                  <a:srgbClr val="1230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Долгий экспорт ГОСТ-таблиц.</a:t>
            </a:r>
            <a:endParaRPr lang="en-US" sz="13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9826" y="4853781"/>
            <a:ext cx="348547" cy="34855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579826" y="5297197"/>
            <a:ext cx="3002284" cy="256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2304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Закрытые форматы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8579826" y="5652338"/>
            <a:ext cx="3002284" cy="456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350" dirty="0">
                <a:solidFill>
                  <a:srgbClr val="1230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AutoCAD усложняет доступ к данным.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884918" y="6443663"/>
            <a:ext cx="306777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1230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886"/>
            <a:ext cx="4866558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20" dirty="0">
                <a:solidFill>
                  <a:srgbClr val="12304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ВОЗМОЖНОСТЬ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5708"/>
            <a:ext cx="4256973" cy="227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4000" b="1" kern="100" spc="-60" dirty="0">
                <a:solidFill>
                  <a:srgbClr val="12304A"/>
                </a:solidFill>
                <a:latin typeface="Rubik Bold" pitchFamily="34" charset="0"/>
                <a:ea typeface="Rubik Bold" pitchFamily="34" charset="-122"/>
                <a:cs typeface="Rubik Bold" pitchFamily="34" charset="0"/>
              </a:rPr>
              <a:t>От ручного сопоставления — к цифровой карте плана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09585" y="3372465"/>
            <a:ext cx="4256973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230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ARGON PLAN AI извлекает данные из чертежей, связывает помещения с координатами и готовит результат для инженерной работы.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2817" y="2342455"/>
            <a:ext cx="5039293" cy="21730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83180" y="2586021"/>
            <a:ext cx="2771229" cy="167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kern="100" spc="-16" dirty="0">
                <a:solidFill>
                  <a:srgbClr val="000000"/>
                </a:solidFill>
                <a:latin typeface="Rubik Bold" pitchFamily="34" charset="0"/>
                <a:ea typeface="Rubik Bold" pitchFamily="34" charset="-122"/>
                <a:cs typeface="Rubik Bold" pitchFamily="34" charset="0"/>
              </a:rPr>
              <a:t>PDF-план &amp; Excel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883180" y="3089951"/>
            <a:ext cx="2771229" cy="167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kern="100" spc="-16" dirty="0">
                <a:solidFill>
                  <a:srgbClr val="000000"/>
                </a:solidFill>
                <a:latin typeface="Rubik Bold" pitchFamily="34" charset="0"/>
                <a:ea typeface="Rubik Bold" pitchFamily="34" charset="-122"/>
                <a:cs typeface="Rubik Bold" pitchFamily="34" charset="0"/>
              </a:rPr>
              <a:t>Единая структура данных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883180" y="3588841"/>
            <a:ext cx="2771229" cy="167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kern="100" spc="-16" dirty="0">
                <a:solidFill>
                  <a:srgbClr val="000000"/>
                </a:solidFill>
                <a:latin typeface="Rubik Bold" pitchFamily="34" charset="0"/>
                <a:ea typeface="Rubik Bold" pitchFamily="34" charset="-122"/>
                <a:cs typeface="Rubik Bold" pitchFamily="34" charset="0"/>
              </a:rPr>
              <a:t>Интерактивная 2D‑карта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883180" y="4087732"/>
            <a:ext cx="2771229" cy="167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kern="100" spc="-16" dirty="0">
                <a:solidFill>
                  <a:srgbClr val="000000"/>
                </a:solidFill>
                <a:latin typeface="Rubik Bold" pitchFamily="34" charset="0"/>
                <a:ea typeface="Rubik Bold" pitchFamily="34" charset="-122"/>
                <a:cs typeface="Rubik Bold" pitchFamily="34" charset="0"/>
              </a:rPr>
              <a:t>Расчёты &amp; ГОСТ‑отчёт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1884918" y="6443663"/>
            <a:ext cx="306777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1230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886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20" dirty="0">
                <a:solidFill>
                  <a:srgbClr val="12304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ВОЗМОЖНОСТИ ПРОДУКТА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5708"/>
            <a:ext cx="10972526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4000" b="1" kern="100" spc="-60" dirty="0">
                <a:solidFill>
                  <a:srgbClr val="12304A"/>
                </a:solidFill>
                <a:latin typeface="Rubik Bold" pitchFamily="34" charset="0"/>
                <a:ea typeface="Rubik Bold" pitchFamily="34" charset="-122"/>
                <a:cs typeface="Rubik Bold" pitchFamily="34" charset="0"/>
              </a:rPr>
              <a:t>Три модуля закрывают самый дорогой ручной этап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09585" y="2234624"/>
            <a:ext cx="1158211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230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Каждый модуль превращает часть ручной подготовки в структурированный шаг инженерного процесса.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09585" y="2738636"/>
            <a:ext cx="3454314" cy="2366268"/>
          </a:xfrm>
          <a:prstGeom prst="roundRect">
            <a:avLst>
              <a:gd name="adj" fmla="val 7728"/>
            </a:avLst>
          </a:prstGeom>
          <a:solidFill>
            <a:srgbClr val="EDF5FA"/>
          </a:solidFill>
          <a:ln w="6350">
            <a:solidFill>
              <a:srgbClr val="B7CBD6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29" y="2973586"/>
            <a:ext cx="431789" cy="431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4529" y="3551436"/>
            <a:ext cx="298442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2304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PDF Decoder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44529" y="4073644"/>
            <a:ext cx="2984425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1230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Читает скрытые ToUnicode-таблицы и извлекает текст из чертежа.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368691" y="2738636"/>
            <a:ext cx="3454314" cy="2366268"/>
          </a:xfrm>
          <a:prstGeom prst="roundRect">
            <a:avLst>
              <a:gd name="adj" fmla="val 7728"/>
            </a:avLst>
          </a:prstGeom>
          <a:solidFill>
            <a:srgbClr val="EDF5FA"/>
          </a:solidFill>
          <a:ln w="6350">
            <a:solidFill>
              <a:srgbClr val="B7CBD6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3635" y="2973586"/>
            <a:ext cx="431789" cy="431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03635" y="3551436"/>
            <a:ext cx="298442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2304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AI Semantics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4603635" y="4073644"/>
            <a:ext cx="2984425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1230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Определяет категории помещений по названиям.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8127797" y="2738636"/>
            <a:ext cx="3454314" cy="2366268"/>
          </a:xfrm>
          <a:prstGeom prst="roundRect">
            <a:avLst>
              <a:gd name="adj" fmla="val 7728"/>
            </a:avLst>
          </a:prstGeom>
          <a:solidFill>
            <a:srgbClr val="EDF5FA"/>
          </a:solidFill>
          <a:ln w="6350">
            <a:solidFill>
              <a:srgbClr val="B7CBD6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2741" y="2973586"/>
            <a:ext cx="431789" cy="4318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62741" y="3551436"/>
            <a:ext cx="298442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2304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HVAC Balance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8362741" y="4073644"/>
            <a:ext cx="2984425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1230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Сводит приток и вытяжку по нормам СП 60.13330.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11884918" y="6443663"/>
            <a:ext cx="306777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1230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886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20" dirty="0">
                <a:solidFill>
                  <a:srgbClr val="12304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СТЕК И ПРОЦЕСС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5708"/>
            <a:ext cx="10972526" cy="568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4000" b="1" kern="100" spc="-60" dirty="0">
                <a:solidFill>
                  <a:srgbClr val="12304A"/>
                </a:solidFill>
                <a:latin typeface="Rubik Bold" pitchFamily="34" charset="0"/>
                <a:ea typeface="Rubik Bold" pitchFamily="34" charset="-122"/>
                <a:cs typeface="Rubik Bold" pitchFamily="34" charset="0"/>
              </a:rPr>
              <a:t>Четыре шага от плана до ГОСТ-отчёта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09585" y="1665704"/>
            <a:ext cx="1158211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230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Один сквозной процесс связывает исходные файлы, координаты, расчёты и выгрузку.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09585" y="2169716"/>
            <a:ext cx="2647884" cy="2807891"/>
          </a:xfrm>
          <a:prstGeom prst="roundRect">
            <a:avLst>
              <a:gd name="adj" fmla="val 3424"/>
            </a:avLst>
          </a:prstGeom>
          <a:noFill/>
          <a:ln w="25399">
            <a:solidFill>
              <a:srgbClr val="D8D4D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578" y="2423716"/>
            <a:ext cx="539736" cy="5397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3578" y="3198416"/>
            <a:ext cx="2139896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12304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Загрузка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63578" y="3660299"/>
            <a:ext cx="2139896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1230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Пользователь добавляет PDF-план и Excel-таблицу.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3384465" y="2169716"/>
            <a:ext cx="2647884" cy="2807891"/>
          </a:xfrm>
          <a:prstGeom prst="roundRect">
            <a:avLst>
              <a:gd name="adj" fmla="val 3424"/>
            </a:avLst>
          </a:prstGeom>
          <a:noFill/>
          <a:ln w="25399">
            <a:solidFill>
              <a:srgbClr val="D8D4D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8459" y="2423716"/>
            <a:ext cx="539736" cy="5397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38459" y="3198416"/>
            <a:ext cx="2139896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12304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Извлечение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3638459" y="3660299"/>
            <a:ext cx="2139896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1230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Система декодирует CMap, экспликацию и координаты.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6159346" y="2169716"/>
            <a:ext cx="2647884" cy="2807891"/>
          </a:xfrm>
          <a:prstGeom prst="roundRect">
            <a:avLst>
              <a:gd name="adj" fmla="val 3424"/>
            </a:avLst>
          </a:prstGeom>
          <a:noFill/>
          <a:ln w="25399">
            <a:solidFill>
              <a:srgbClr val="D8D4D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3340" y="2423716"/>
            <a:ext cx="539736" cy="5397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13340" y="3198416"/>
            <a:ext cx="2139896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12304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Привязка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6413340" y="3660299"/>
            <a:ext cx="2139896" cy="1067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1230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Помещения совмещаются с чертежом по X/Y-координатам.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8934226" y="2169716"/>
            <a:ext cx="2647884" cy="2807891"/>
          </a:xfrm>
          <a:prstGeom prst="roundRect">
            <a:avLst>
              <a:gd name="adj" fmla="val 3424"/>
            </a:avLst>
          </a:prstGeom>
          <a:noFill/>
          <a:ln w="25399">
            <a:solidFill>
              <a:srgbClr val="D8D4D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8220" y="2423716"/>
            <a:ext cx="539736" cy="5397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88220" y="3198416"/>
            <a:ext cx="2139896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12304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Генерация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9188220" y="3660299"/>
            <a:ext cx="2139896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1230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Рассчитываются Lпр / Lвыт и выгружается Excel по ГОСТ.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11884918" y="6443663"/>
            <a:ext cx="306777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1230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886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20" dirty="0">
                <a:solidFill>
                  <a:srgbClr val="12304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АРХИТЕКТУРА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5708"/>
            <a:ext cx="10972526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4000" b="1" kern="100" spc="-60" dirty="0">
                <a:solidFill>
                  <a:srgbClr val="12304A"/>
                </a:solidFill>
                <a:latin typeface="Rubik Bold" pitchFamily="34" charset="0"/>
                <a:ea typeface="Rubik Bold" pitchFamily="34" charset="-122"/>
                <a:cs typeface="Rubik Bold" pitchFamily="34" charset="0"/>
              </a:rPr>
              <a:t>Архитектура собрана вокруг инженерного ядра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09585" y="2234624"/>
            <a:ext cx="1158211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230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React / Vite → C# / .NET 8 → доменные модули → графовое хранилище и генерация Excel → Docker Compose.</a:t>
            </a:r>
            <a:endParaRPr lang="en-US" sz="1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738636"/>
          <a:ext cx="10972526" cy="914400"/>
        </p:xfrm>
        <a:graphic>
          <a:graphicData uri="http://schemas.openxmlformats.org/drawingml/2006/table">
            <a:tbl>
              <a:tblPr/>
              <a:tblGrid>
                <a:gridCol w="2413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58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8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230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Frontend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230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React 18, Vite, Tailwind CSS и интерактивный Canvas.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230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Backend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230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C# / .NET 8, HVACCalculator и доменные сервисы.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230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Интеграции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230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CADExtractor, DataMapper и ExcelGenerator.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230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Данные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230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GraphDB / GRAFDB для структурированного хранения графов.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56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230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Инфраструктура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230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Docker Compose для локального изолированного запуска.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9585" y="5415062"/>
            <a:ext cx="1158211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496274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Репозиторий подтверждает наличие .NET 8, React, Docker Compose, GRAFDB и xUnit-тестов.</a:t>
            </a:r>
            <a:endParaRPr lang="en-US" sz="1250" dirty="0"/>
          </a:p>
        </p:txBody>
      </p:sp>
      <p:sp>
        <p:nvSpPr>
          <p:cNvPr id="5" name="Text 4"/>
          <p:cNvSpPr/>
          <p:nvPr/>
        </p:nvSpPr>
        <p:spPr>
          <a:xfrm>
            <a:off x="11884918" y="6443663"/>
            <a:ext cx="306777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1230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886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20" dirty="0">
                <a:solidFill>
                  <a:srgbClr val="12304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СОСТОЯНИЕ ПРОЕКТА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5708"/>
            <a:ext cx="10972526" cy="568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4000" b="1" kern="100" spc="-60" dirty="0">
                <a:solidFill>
                  <a:srgbClr val="12304A"/>
                </a:solidFill>
                <a:latin typeface="Rubik Bold" pitchFamily="34" charset="0"/>
                <a:ea typeface="Rubik Bold" pitchFamily="34" charset="-122"/>
                <a:cs typeface="Rubik Bold" pitchFamily="34" charset="0"/>
              </a:rPr>
              <a:t>Проект уже готов к инженерному пилоту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09585" y="1665704"/>
            <a:ext cx="10972526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230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В репозитории </a:t>
            </a:r>
            <a:r>
              <a:rPr lang="en-US" sz="1700" b="1" dirty="0">
                <a:solidFill>
                  <a:srgbClr val="12304A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AI-agent_of_ventilation</a:t>
            </a:r>
            <a:r>
              <a:rPr lang="en-US" sz="1700" dirty="0">
                <a:solidFill>
                  <a:srgbClr val="1230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/ ветка </a:t>
            </a:r>
            <a:r>
              <a:rPr lang="en-US" sz="1700" b="1" dirty="0">
                <a:solidFill>
                  <a:srgbClr val="12304A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first-step</a:t>
            </a:r>
            <a:r>
              <a:rPr lang="en-US" sz="1700" dirty="0">
                <a:solidFill>
                  <a:srgbClr val="1230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есть рабочие зоны, которые можно проверять и развивать поэтапно.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09585" y="2482751"/>
            <a:ext cx="2514537" cy="2302768"/>
          </a:xfrm>
          <a:prstGeom prst="roundRect">
            <a:avLst>
              <a:gd name="adj" fmla="val 7942"/>
            </a:avLst>
          </a:prstGeom>
          <a:solidFill>
            <a:srgbClr val="EDF5FA"/>
          </a:solidFill>
          <a:ln w="6350">
            <a:solidFill>
              <a:srgbClr val="B7CBD6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29" y="2717701"/>
            <a:ext cx="431789" cy="431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4529" y="3292376"/>
            <a:ext cx="2044649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12304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frontend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44529" y="3754259"/>
            <a:ext cx="2044649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1230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React 18, Vite, Tailwind CSS, интерактивный Canvas.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3428914" y="2482751"/>
            <a:ext cx="2514537" cy="2302768"/>
          </a:xfrm>
          <a:prstGeom prst="roundRect">
            <a:avLst>
              <a:gd name="adj" fmla="val 7942"/>
            </a:avLst>
          </a:prstGeom>
          <a:solidFill>
            <a:srgbClr val="EDF5FA"/>
          </a:solidFill>
          <a:ln w="6350">
            <a:solidFill>
              <a:srgbClr val="B7CBD6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3858" y="2717701"/>
            <a:ext cx="431789" cy="431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63858" y="3292376"/>
            <a:ext cx="2044649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12304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src/backend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3663858" y="3754259"/>
            <a:ext cx="2044649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1230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C# / .NET 8, HVACCalculator и доменные сервисы.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6248244" y="2482751"/>
            <a:ext cx="2514537" cy="2302768"/>
          </a:xfrm>
          <a:prstGeom prst="roundRect">
            <a:avLst>
              <a:gd name="adj" fmla="val 7942"/>
            </a:avLst>
          </a:prstGeom>
          <a:solidFill>
            <a:srgbClr val="EDF5FA"/>
          </a:solidFill>
          <a:ln w="6350">
            <a:solidFill>
              <a:srgbClr val="B7CBD6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188" y="2717701"/>
            <a:ext cx="431789" cy="4318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83188" y="3292376"/>
            <a:ext cx="2044649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12304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infrastructure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6483188" y="3754259"/>
            <a:ext cx="2044649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1230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Docker Compose и локальная сборка.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9067573" y="2482751"/>
            <a:ext cx="2514537" cy="2302768"/>
          </a:xfrm>
          <a:prstGeom prst="roundRect">
            <a:avLst>
              <a:gd name="adj" fmla="val 7942"/>
            </a:avLst>
          </a:prstGeom>
          <a:solidFill>
            <a:srgbClr val="EDF5FA"/>
          </a:solidFill>
          <a:ln w="6350">
            <a:solidFill>
              <a:srgbClr val="B7CBD6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2517" y="2717701"/>
            <a:ext cx="431789" cy="4318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302517" y="3292376"/>
            <a:ext cx="2044649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12304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tests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9302517" y="3754259"/>
            <a:ext cx="2044649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1230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HVACCalculator.Tests на xUnit.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609585" y="4982766"/>
            <a:ext cx="1158211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496274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Следующий шаг: связать изменения кода, расчётный контур и автоматическую проверку регрессий.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11884918" y="6443663"/>
            <a:ext cx="306777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1230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908627" cy="6858000"/>
          </a:xfrm>
          <a:prstGeom prst="rect">
            <a:avLst/>
          </a:prstGeom>
          <a:solidFill>
            <a:srgbClr val="EDF5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09585" y="990802"/>
            <a:ext cx="6299042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20" dirty="0">
                <a:solidFill>
                  <a:srgbClr val="12304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БЕЗОПАСНОСТЬ ДАННЫХ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585" y="1274625"/>
            <a:ext cx="5689458" cy="170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4000" b="1" kern="100" spc="-60" dirty="0">
                <a:solidFill>
                  <a:srgbClr val="12304A"/>
                </a:solidFill>
                <a:latin typeface="Rubik Bold" pitchFamily="34" charset="0"/>
                <a:ea typeface="Rubik Bold" pitchFamily="34" charset="-122"/>
                <a:cs typeface="Rubik Bold" pitchFamily="34" charset="0"/>
              </a:rPr>
              <a:t>100% On-Premise — данные остаются внутри контура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09585" y="3182461"/>
            <a:ext cx="5689458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230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Архитектура разворачивается локально в Docker-контейнерах, без внешних API и передачи планов наружу.</a:t>
            </a:r>
            <a:endParaRPr lang="en-US" sz="1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4350683"/>
            <a:ext cx="355591" cy="355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7572" y="4315242"/>
            <a:ext cx="518147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230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Конфиденциальность чертежей и экспликаций.</a:t>
            </a:r>
            <a:endParaRPr lang="en-US" sz="17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5" y="4816118"/>
            <a:ext cx="355591" cy="355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17572" y="4780677"/>
            <a:ext cx="518147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230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Контролируемая локальная сборка.</a:t>
            </a:r>
            <a:endParaRPr lang="en-US" sz="1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5" y="5281553"/>
            <a:ext cx="355591" cy="355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17572" y="5246112"/>
            <a:ext cx="5181470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230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Изолируемая инфраструктура для инженерных данных.</a:t>
            </a:r>
            <a:endParaRPr lang="en-US" sz="17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8627" y="0"/>
            <a:ext cx="5283068" cy="68580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16093" y="6443663"/>
            <a:ext cx="70026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1230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886"/>
            <a:ext cx="623554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20" dirty="0">
                <a:solidFill>
                  <a:srgbClr val="12304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ЭКОНОМИКА ПРОЕКТА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5708"/>
            <a:ext cx="5625959" cy="170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4000" b="1" kern="100" spc="-60" dirty="0">
                <a:solidFill>
                  <a:srgbClr val="12304A"/>
                </a:solidFill>
                <a:latin typeface="Rubik Bold" pitchFamily="34" charset="0"/>
                <a:ea typeface="Rubik Bold" pitchFamily="34" charset="-122"/>
                <a:cs typeface="Rubik Bold" pitchFamily="34" charset="0"/>
              </a:rPr>
              <a:t>Ускорение до 60 раз меняет экономику проекта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09585" y="2803545"/>
            <a:ext cx="5625959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230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Операция, которая раньше требовала часов сопоставления DWG-блоков с таблицами, в демонстрации выполняется за 3 секунды.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09585" y="3933627"/>
            <a:ext cx="2736782" cy="2366665"/>
          </a:xfrm>
          <a:prstGeom prst="roundRect">
            <a:avLst>
              <a:gd name="adj" fmla="val 7727"/>
            </a:avLst>
          </a:prstGeom>
          <a:solidFill>
            <a:srgbClr val="EDF5FA"/>
          </a:solidFill>
          <a:ln w="6350">
            <a:solidFill>
              <a:srgbClr val="B7CBD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44529" y="4255605"/>
            <a:ext cx="2266893" cy="1280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9600" b="1" kern="100" spc="-384" dirty="0">
                <a:solidFill>
                  <a:srgbClr val="8F6D0A"/>
                </a:solidFill>
                <a:latin typeface="Rubik Bold" pitchFamily="34" charset="0"/>
                <a:ea typeface="Rubik Bold" pitchFamily="34" charset="-122"/>
                <a:cs typeface="Rubik Bold" pitchFamily="34" charset="0"/>
              </a:rPr>
              <a:t>60x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844529" y="5854601"/>
            <a:ext cx="250183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1230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ускорение операции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98762" y="3933627"/>
            <a:ext cx="2736782" cy="2366665"/>
          </a:xfrm>
          <a:prstGeom prst="rect">
            <a:avLst/>
          </a:prstGeom>
          <a:solidFill>
            <a:srgbClr val="F2C8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727357" y="4444192"/>
            <a:ext cx="2279593" cy="96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7200" b="1" kern="100" spc="-288" dirty="0">
                <a:solidFill>
                  <a:srgbClr val="000000"/>
                </a:solidFill>
                <a:latin typeface="Rubik Bold" pitchFamily="34" charset="0"/>
                <a:ea typeface="Rubik Bold" pitchFamily="34" charset="-122"/>
                <a:cs typeface="Rubik Bold" pitchFamily="34" charset="0"/>
              </a:rPr>
              <a:t>3 сек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3727357" y="5644257"/>
            <a:ext cx="250818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в демонстрации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02317" y="0"/>
            <a:ext cx="4889378" cy="6858000"/>
          </a:xfrm>
          <a:prstGeom prst="rect">
            <a:avLst/>
          </a:prstGeom>
          <a:solidFill>
            <a:srgbClr val="12304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0496" y="838240"/>
            <a:ext cx="431789" cy="4318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788180" y="840899"/>
            <a:ext cx="2565336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Больше времени на инженерные решения.</a:t>
            </a:r>
            <a:endParaRPr lang="en-US" sz="17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0496" y="2763083"/>
            <a:ext cx="431789" cy="4318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788180" y="2765742"/>
            <a:ext cx="2565336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Меньше ручных переносов и повторных проверок.</a:t>
            </a:r>
            <a:endParaRPr lang="en-US" sz="17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0496" y="5001061"/>
            <a:ext cx="431789" cy="4318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88180" y="5003721"/>
            <a:ext cx="2565336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Быстрее путь от исходного плана к готовому отчёту.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7530912" y="2147094"/>
            <a:ext cx="4432189" cy="1270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4"/>
          <p:cNvSpPr/>
          <p:nvPr/>
        </p:nvSpPr>
        <p:spPr>
          <a:xfrm>
            <a:off x="7530912" y="4385072"/>
            <a:ext cx="4432189" cy="1270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5"/>
          <p:cNvSpPr/>
          <p:nvPr/>
        </p:nvSpPr>
        <p:spPr>
          <a:xfrm>
            <a:off x="11884918" y="6443663"/>
            <a:ext cx="306777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1230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184602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20" dirty="0">
                <a:solidFill>
                  <a:srgbClr val="12304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СЛЕДУЮЩИЙ ШАГ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2466616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b="1" kern="100" spc="-48" dirty="0">
                <a:solidFill>
                  <a:srgbClr val="12304A"/>
                </a:solidFill>
                <a:latin typeface="Rubik Bold" pitchFamily="34" charset="0"/>
                <a:ea typeface="Rubik Bold" pitchFamily="34" charset="-122"/>
                <a:cs typeface="Rubik Bold" pitchFamily="34" charset="0"/>
              </a:rPr>
              <a:t>Следующий шаг — пилот на AI-agent_of_ventilation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3124617"/>
            <a:ext cx="1158211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230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Запустим один сквозной сценарий: PDF-план → извлечение → привязка → расчёт → Excel-отчёт.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09585" y="3628628"/>
            <a:ext cx="10972526" cy="1047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21000"/>
              </a:lnSpc>
              <a:buSzPct val="100000"/>
              <a:buFont typeface="+mj-lt"/>
              <a:buAutoNum type="arabicPeriod"/>
            </a:pPr>
            <a:r>
              <a:rPr lang="en-US" sz="1700" dirty="0">
                <a:solidFill>
                  <a:srgbClr val="1230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Зафиксируем контрольный проект и входные данные.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Font typeface="+mj-lt"/>
              <a:buAutoNum type="arabicPeriod" startAt="2"/>
            </a:pPr>
            <a:r>
              <a:rPr lang="en-US" sz="1700" dirty="0">
                <a:solidFill>
                  <a:srgbClr val="1230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Проверим ключевые модули и тестовый контур.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Font typeface="+mj-lt"/>
              <a:buAutoNum type="arabicPeriod" startAt="3"/>
            </a:pPr>
            <a:r>
              <a:rPr lang="en-US" sz="1700" dirty="0">
                <a:solidFill>
                  <a:srgbClr val="1230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Сравним ручное время с автоматизированным процессом.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794235" y="6443663"/>
            <a:ext cx="39746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12304A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595</Words>
  <Application>Microsoft Office PowerPoint</Application>
  <PresentationFormat>Широкоэкранный</PresentationFormat>
  <Paragraphs>117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7" baseType="lpstr">
      <vt:lpstr>Arial</vt:lpstr>
      <vt:lpstr>IBM Plex Sans SemiBold</vt:lpstr>
      <vt:lpstr>Rubik Bold</vt:lpstr>
      <vt:lpstr>Calibri</vt:lpstr>
      <vt:lpstr>IBM Plex Sans Bold</vt:lpstr>
      <vt:lpstr>IBM Plex Sans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Roman Butuzov</cp:lastModifiedBy>
  <cp:revision>3</cp:revision>
  <dcterms:created xsi:type="dcterms:W3CDTF">2026-10-30T14:40:05Z</dcterms:created>
  <dcterms:modified xsi:type="dcterms:W3CDTF">2026-10-30T14:41:44Z</dcterms:modified>
</cp:coreProperties>
</file>